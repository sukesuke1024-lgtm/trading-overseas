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>
                <a:solidFill>
                  <a:srgbClr val="E8E8EC"/>
                </a:solidFill>
                <a:latin typeface="Meiryo"/>
              </a:rPr>
              <a:t>H-LINK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6858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Meiryo"/>
              </a:rPr>
              <a:t>営業管理ツール</a:t>
            </a:r>
          </a:p>
          <a:p>
            <a:pPr algn="l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Meiryo"/>
              </a:rPr>
              <a:t>H-LINK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6583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0">
                <a:solidFill>
                  <a:srgbClr val="CFCFD6"/>
                </a:solidFill>
                <a:latin typeface="Meiryo"/>
              </a:rPr>
              <a:t>QRコードを読み取るだけで、スマホ・パソコンのブラウザで使えます。</a:t>
            </a:r>
          </a:p>
          <a:p>
            <a:pPr algn="l">
              <a:spcAft>
                <a:spcPts val="720"/>
              </a:spcAft>
            </a:pPr>
            <a:r>
              <a:rPr sz="1600" b="0">
                <a:solidFill>
                  <a:srgbClr val="CFCFD6"/>
                </a:solidFill>
                <a:latin typeface="Meiryo"/>
              </a:rPr>
              <a:t>インストール不要のWebアプリ（デモ版）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188720"/>
            <a:ext cx="356616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r-c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371600"/>
            <a:ext cx="310896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45720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30"/>
              </a:spcAft>
            </a:pPr>
            <a:r>
              <a:rPr sz="1400" b="1">
                <a:solidFill>
                  <a:srgbClr val="17171A"/>
                </a:solidFill>
                <a:latin typeface="Meiryo"/>
              </a:rPr>
              <a:t>読み取って開く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600" b="1">
                <a:solidFill>
                  <a:srgbClr val="FFFFFF"/>
                </a:solidFill>
                <a:latin typeface="Meiryo"/>
              </a:rPr>
              <a:t>https://sukesuke1024-lgtm.github.io/Trading-overseas/crm/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7171A"/>
                </a:solidFill>
                <a:latin typeface="Meiryo"/>
              </a:rPr>
              <a:t>1. 開き方（3ステップ）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55555C"/>
                </a:solidFill>
                <a:latin typeface="Meiryo"/>
              </a:rPr>
              <a:t>アプリのインストールやアカウント登録は不要です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5555C"/>
                </a:solidFill>
                <a:latin typeface="Meiryo"/>
              </a:rPr>
              <a:t>H-LINK CRM  利用ガイド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566160" cy="26517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1">
                <a:solidFill>
                  <a:srgbClr val="17171A"/>
                </a:solidFill>
                <a:latin typeface="Meiryo"/>
              </a:rPr>
              <a:t>QRコードを読み取る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5555C"/>
                </a:solidFill>
                <a:latin typeface="Meiryo"/>
              </a:rPr>
              <a:t>スマホのカメラでQRを読み取るか、下のURLをブラウザに入力します。パソコンはURLを直接開きます。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566160" cy="26517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146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1">
                <a:solidFill>
                  <a:srgbClr val="17171A"/>
                </a:solidFill>
                <a:latin typeface="Meiryo"/>
              </a:rPr>
              <a:t>ユーザーを選ぶ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017520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5555C"/>
                </a:solidFill>
                <a:latin typeface="Meiryo"/>
              </a:rPr>
              <a:t>ログイン画面の右側の一覧から、使う人を選びます（デモ）。権限が違います：Admin（管理者）／Manager／Sales。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566160" cy="26517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58200" y="1828800"/>
            <a:ext cx="548640" cy="54864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5146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1">
                <a:solidFill>
                  <a:srgbClr val="17171A"/>
                </a:solidFill>
                <a:latin typeface="Meiryo"/>
              </a:rPr>
              <a:t>今日やることを確認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017520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5555C"/>
                </a:solidFill>
                <a:latin typeface="Meiryo"/>
              </a:rPr>
              <a:t>ダッシュボードが開きます。「今日やること」から、連絡する相手・期限の過ぎた案件を確認します。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5555C"/>
                </a:solidFill>
                <a:latin typeface="Meiryo"/>
              </a:rPr>
              <a:t>URL：  https://sukesuke1024-lgtm.github.io/Trading-overseas/crm/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55555C"/>
                </a:solidFill>
                <a:latin typeface="Meiryo"/>
              </a:rPr>
              <a:t>・保存は、お使いのブラウザの中だけです（他の人とは共有されません）。画面右上のメニューの「設定 → データ」でいつでも初期状態に戻せます。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55555C"/>
                </a:solidFill>
                <a:latin typeface="Meiryo"/>
              </a:rPr>
              <a:t>・しばらく操作しないと自動でログアウトします（設定 → セキュリティで時間を変更）。二段階認証もそこで設定できます。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55555C"/>
                </a:solidFill>
                <a:latin typeface="Meiryo"/>
              </a:rPr>
              <a:t>・スマホは、ブラウザの「ホーム画面に追加」を使うと、アプリのように起動できます。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7171A"/>
                </a:solidFill>
                <a:latin typeface="Meiryo"/>
              </a:rPr>
              <a:t>2. 画面の見かた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55555C"/>
                </a:solidFill>
                <a:latin typeface="Meiryo"/>
              </a:rPr>
              <a:t>左のメニューから各機能へ。上の検索（Ctrl+K）で、顧客・案件・画面へすぐ移動できます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5555C"/>
                </a:solidFill>
                <a:latin typeface="Meiryo"/>
              </a:rPr>
              <a:t>H-LINK CRM  利用ガイド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3" y="1517904"/>
            <a:ext cx="6839712" cy="430225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c_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766560" cy="4229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554480"/>
            <a:ext cx="4023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ダッシュボード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・今日やること（期限切れ・今日・近日）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・停滞している案件、確度の高い案件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・与信の要対応（限度額の超過・再審査の期限）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/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メニューの構成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・営業：パイプライン／案件／顧客／担当者／Task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・営業ツール：見積計算／契約可否／為替／商品／メール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・与信・リスク：与信管理／制裁照会／スキーム集／公的情報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・管理：売上と仕訳／設定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7171A"/>
                </a:solidFill>
                <a:latin typeface="Meiryo"/>
              </a:rPr>
              <a:t>3. 毎日の使い方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55555C"/>
                </a:solidFill>
                <a:latin typeface="Meiryo"/>
              </a:rPr>
              <a:t>「見る → 動く → 記録する」の3つだけ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5555C"/>
                </a:solidFill>
                <a:latin typeface="Meiryo"/>
              </a:rPr>
              <a:t>H-LINK CRM  利用ガイド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566160" cy="640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見る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566160" cy="1828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200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5555C"/>
                </a:solidFill>
                <a:latin typeface="Meiryo"/>
              </a:rPr>
              <a:t>ダッシュボードの「今日やること」。期限切れ・今日の予定が上に出ます。パイプラインで案件の進み具合を見ます。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566160" cy="640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動く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286000"/>
            <a:ext cx="3566160" cy="1828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3200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5555C"/>
                </a:solidFill>
                <a:latin typeface="Meiryo"/>
              </a:rPr>
              <a:t>顧客を開いて（Customer 360°）連絡。メール配信で資料つきの案内を送ります。見積計算で価格を決めます。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566160" cy="640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9164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>
                <a:solidFill>
                  <a:srgbClr val="FFFFFF"/>
                </a:solidFill>
                <a:latin typeface="Meiryo"/>
              </a:rPr>
              <a:t>記録する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286000"/>
            <a:ext cx="3566160" cy="1828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423160"/>
            <a:ext cx="3200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55555C"/>
                </a:solidFill>
                <a:latin typeface="Meiryo"/>
              </a:rPr>
              <a:t>画面右下の「＋記録」から1分で活動を登録。最終接触・次回予定・Next Actionは自動で更新されます。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3" y="4398264"/>
            <a:ext cx="3090672" cy="195910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_c_12-quick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34840"/>
            <a:ext cx="3017520" cy="18859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895344" y="4398264"/>
            <a:ext cx="3090672" cy="195910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_c_02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434840"/>
            <a:ext cx="3017520" cy="188595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278624" y="4398264"/>
            <a:ext cx="3090672" cy="195910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_c_06-c3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434840"/>
            <a:ext cx="3017520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7171A"/>
                </a:solidFill>
                <a:latin typeface="Meiryo"/>
              </a:rPr>
              <a:t>4. 為替・メール配信・資料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55555C"/>
                </a:solidFill>
                <a:latin typeface="Meiryo"/>
              </a:rPr>
              <a:t>バイヤーに資料つきで案内し、為替を見ながら価格を決める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5555C"/>
                </a:solidFill>
                <a:latin typeface="Meiryo"/>
              </a:rPr>
              <a:t>H-LINK CRM  利用ガイド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3" y="1426464"/>
            <a:ext cx="5468112" cy="344500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c_16-f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394960" cy="33718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72784" y="1426464"/>
            <a:ext cx="5468112" cy="344500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c_19-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394960" cy="3371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9496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55555C"/>
                </a:solidFill>
                <a:latin typeface="Meiryo"/>
              </a:rPr>
              <a:t>為替：画面を開いている間、自動更新。リアルタイム提供元（APIキー）を設定すると秒〜分単位。予約の登録・評価損益も。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39496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55555C"/>
                </a:solidFill>
                <a:latin typeface="Meiryo"/>
              </a:rPr>
              <a:t>メール：宛先を絞り、資料ライブラリのマイソク・カタログ・チラシ（PDF・画像）を添付。添付つきの下書き（.eml）を作成して送信。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7171A"/>
                </a:solidFill>
                <a:latin typeface="Meiryo"/>
              </a:rPr>
              <a:t>5. 与信管理（取引先の信用をみえる化）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55555C"/>
                </a:solidFill>
                <a:latin typeface="Meiryo"/>
              </a:rPr>
              <a:t>格付け・限度額・決済条件を、理由つきで決める。生産者への説明書も作れる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5555C"/>
                </a:solidFill>
                <a:latin typeface="Meiryo"/>
              </a:rPr>
              <a:t>H-LINK CRM  利用ガイド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3" y="1426464"/>
            <a:ext cx="6108192" cy="405460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c_33-credit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035040" cy="398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1463040"/>
            <a:ext cx="475488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使い方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1. 「与信管理 → 審査する」で顧客を選ぶ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2. 財務・信用情報・コンプライアンス・保全を入力（不明は空欄でOK）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3. 右に、格付け（S〜D／NG）・限度額・許容できる決済条件が出る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4. 申請 → Manager以上が承認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5. 「取引リスクの説明書」を生産者に印刷／PDFで渡す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/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ご注意</a:t>
            </a:r>
          </a:p>
          <a:p>
            <a:pPr algn="l">
              <a:spcAft>
                <a:spcPts val="585"/>
              </a:spcAft>
            </a:pPr>
            <a:r>
              <a:rPr sz="1300" b="0">
                <a:solidFill>
                  <a:srgbClr val="17171A"/>
                </a:solidFill>
                <a:latin typeface="Meiryo"/>
              </a:rPr>
              <a:t>点数・係数は社内の暫定ルールです。自社の回収実績で見直してください。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7171A"/>
                </a:solidFill>
                <a:latin typeface="Meiryo"/>
              </a:rPr>
              <a:t>6. 制裁照会・スキーム集・公的情報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55555C"/>
                </a:solidFill>
                <a:latin typeface="Meiryo"/>
              </a:rPr>
              <a:t>毎時、自動で更新される公開情報で、取引前のチェックと学習ができる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5555C"/>
                </a:solidFill>
                <a:latin typeface="Meiryo"/>
              </a:rPr>
              <a:t>H-LINK CRM  利用ガイド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3" y="1426464"/>
            <a:ext cx="3730752" cy="235915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c_36-scre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657600" cy="2286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261104" y="1426464"/>
            <a:ext cx="3730752" cy="235915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c_37-sche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63040"/>
            <a:ext cx="3657600" cy="2286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10144" y="1426464"/>
            <a:ext cx="3730752" cy="235915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_c_38-int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463040"/>
            <a:ext cx="365760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114800"/>
            <a:ext cx="3657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55555C"/>
                </a:solidFill>
                <a:latin typeface="Meiryo"/>
              </a:rPr>
              <a:t>制裁リスト照会</a:t>
            </a:r>
          </a:p>
          <a:p>
            <a:pPr algn="l">
              <a:spcAft>
                <a:spcPts val="540"/>
              </a:spcAft>
            </a:pPr>
            <a:r>
              <a:rPr sz="1200" b="0">
                <a:solidFill>
                  <a:srgbClr val="55555C"/>
                </a:solidFill>
                <a:latin typeface="Meiryo"/>
              </a:rPr>
              <a:t>取引先名をOFAC制裁リストと照合。「該当なし」は安全の保証ではありません。他の制裁・反社は別途確認。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114800"/>
            <a:ext cx="3657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55555C"/>
                </a:solidFill>
                <a:latin typeface="Meiryo"/>
              </a:rPr>
              <a:t>海外事業スキーム集</a:t>
            </a:r>
          </a:p>
          <a:p>
            <a:pPr algn="l">
              <a:spcAft>
                <a:spcPts val="540"/>
              </a:spcAft>
            </a:pPr>
            <a:r>
              <a:rPr sz="1200" b="0">
                <a:solidFill>
                  <a:srgbClr val="55555C"/>
                </a:solidFill>
                <a:latin typeface="Meiryo"/>
              </a:rPr>
              <a:t>L/C・前払い・D/P・O/A＋保険・商社経由など12の取引の形を、流れ図とリスクで比較。資金繰りの試算つき。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114800"/>
            <a:ext cx="3657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55555C"/>
                </a:solidFill>
                <a:latin typeface="Meiryo"/>
              </a:rPr>
              <a:t>公的情報（自動更新）</a:t>
            </a:r>
          </a:p>
          <a:p>
            <a:pPr algn="l">
              <a:spcAft>
                <a:spcPts val="540"/>
              </a:spcAft>
            </a:pPr>
            <a:r>
              <a:rPr sz="1200" b="0">
                <a:solidFill>
                  <a:srgbClr val="55555C"/>
                </a:solidFill>
                <a:latin typeface="Meiryo"/>
              </a:rPr>
              <a:t>為替・制裁リスト・官公庁ニュースを毎時取り込み。最終更新と取得状況を表示。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60"/>
              </a:spcAft>
            </a:pPr>
            <a:r>
              <a:rPr sz="2800" b="1">
                <a:solidFill>
                  <a:srgbClr val="17171A"/>
                </a:solidFill>
                <a:latin typeface="Meiryo"/>
              </a:rPr>
              <a:t>7. 困ったとき・注意事項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00" b="0">
                <a:solidFill>
                  <a:srgbClr val="55555C"/>
                </a:solidFill>
                <a:latin typeface="Meiryo"/>
              </a:rPr>
              <a:t>H-LINK CRM  利用ガイド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7171A"/>
                </a:solidFill>
                <a:latin typeface="Meiryo"/>
              </a:rPr>
              <a:t>困ったとき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7171A"/>
                </a:solidFill>
                <a:latin typeface="Meiryo"/>
              </a:rPr>
              <a:t>・「困った時は」（逆引き辞典）：状況から探せます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7171A"/>
                </a:solidFill>
                <a:latin typeface="Meiryo"/>
              </a:rPr>
              <a:t>・「マニュアル」：操作マニュアル・設計書をPDF／Wordでダウンロード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7171A"/>
                </a:solidFill>
                <a:latin typeface="Meiryo"/>
              </a:rPr>
              <a:t>・Ctrl+K：画面・顧客・案件を検索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7171A"/>
                </a:solidFill>
                <a:latin typeface="Meiryo"/>
              </a:rPr>
              <a:t/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7171A"/>
                </a:solidFill>
                <a:latin typeface="Meiryo"/>
              </a:rPr>
              <a:t>権限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7171A"/>
                </a:solidFill>
                <a:latin typeface="Meiryo"/>
              </a:rPr>
              <a:t>・Admin：全機能・設定・方針の変更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7171A"/>
                </a:solidFill>
                <a:latin typeface="Meiryo"/>
              </a:rPr>
              <a:t>・Manager：承認・全体の閲覧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7171A"/>
                </a:solidFill>
                <a:latin typeface="Meiryo"/>
              </a:rPr>
              <a:t>・Sales：自分の担当を中心に操作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6364224" y="1243584"/>
            <a:ext cx="5285232" cy="3330702"/>
          </a:xfrm>
          <a:prstGeom prst="rect">
            <a:avLst/>
          </a:prstGeom>
          <a:solidFill>
            <a:srgbClr val="DDD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c_20-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212080" cy="3257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394960"/>
            <a:ext cx="5669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1">
                <a:solidFill>
                  <a:srgbClr val="C8102E"/>
                </a:solidFill>
                <a:latin typeface="Meiryo"/>
              </a:rPr>
              <a:t>【これはデモ版です】データはお使いのブラウザにだけ保存され、他の人とは共有されません。実際の顧客情報・機密情報は入力しないでください。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