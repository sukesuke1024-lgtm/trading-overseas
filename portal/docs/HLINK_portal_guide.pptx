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sukesuke1024-lgtm.github.io/Trading-overseas/portal/" TargetMode="External"/><Relationship Id="rId4" Type="http://schemas.openxmlformats.org/officeDocument/2006/relationships/hyperlink" Target="https://sukesuke1024-lgtm.github.io/Trading-overseas/portal-v1/" TargetMode="External"/><Relationship Id="rId1" Type="http://schemas.openxmlformats.org/officeDocument/2006/relationships/image" Target="../media/image-2-1.png"/><Relationship Id="rId3" Type="http://schemas.openxmlformats.org/officeDocument/2006/relationships/image" Target="../media/image-2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Trading-overseas/portal/public/brand/logo-horizontal-n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2377440" cy="685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46304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社内ポータル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操作・運用ガイド</a:t>
            </a:r>
            <a:endParaRPr lang="en-US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3108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CF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勤怠・申請・カレンダー・与信・備品注文／ID・PIN管理／公開と更新の運用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943600" y="91440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1" descr="/tmp/claude-0/-home-user-Trading-overseas/37f567e1-186b-5154-a8b5-8a94d4e73e49/scratchpad/qr_port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097280"/>
            <a:ext cx="2286000" cy="2286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94360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スマホで読み取ってください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5943600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sukesuke1024-lgtm.github.io/Trading-overseas/portal/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納品資料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アクセス方法（URL・QRコード）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ブラウザでURLを開くか、QRコードをスマホで読み取ります。ホーム画面に追加すると、アプリのように使えます。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H-LINK 社内ポータル 操作・運用ガイド　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63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00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最新版（H-LINK版）</a:t>
            </a:r>
            <a:endParaRPr lang="en-US" sz="1300" dirty="0"/>
          </a:p>
        </p:txBody>
      </p:sp>
      <p:pic>
        <p:nvPicPr>
          <p:cNvPr id="7" name="Image 0" descr="/tmp/claude-0/-home-user-Trading-overseas/37f567e1-186b-5154-a8b5-8a94d4e73e49/scratchpad/qr_por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1828800" cy="1828800"/>
          </a:xfrm>
          <a:prstGeom prst="rect">
            <a:avLst/>
          </a:prstGeom>
        </p:spPr>
      </p:pic>
      <p:sp>
        <p:nvSpPr>
          <p:cNvPr id="8" name="Text 5">
            <a:hlinkClick r:id="rId2" tooltip=""/>
          </p:cNvPr>
          <p:cNvSpPr txBox="1"/>
          <p:nvPr/>
        </p:nvSpPr>
        <p:spPr>
          <a:xfrm>
            <a:off x="548640" y="37033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u="sng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https://sukesuke1024-lgtm.github.io/Trading-overseas/portal/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291840" y="137160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91840" y="1463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前の版（旧デザイン）</a:t>
            </a:r>
            <a:endParaRPr lang="en-US" sz="1300" dirty="0"/>
          </a:p>
        </p:txBody>
      </p:sp>
      <p:pic>
        <p:nvPicPr>
          <p:cNvPr id="11" name="Image 1" descr="/tmp/claude-0/-home-user-Trading-overseas/37f567e1-186b-5154-a8b5-8a94d4e73e49/scratchpad/qr_portal_v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783080"/>
            <a:ext cx="1828800" cy="1828800"/>
          </a:xfrm>
          <a:prstGeom prst="rect">
            <a:avLst/>
          </a:prstGeom>
        </p:spPr>
      </p:pic>
      <p:sp>
        <p:nvSpPr>
          <p:cNvPr id="12" name="Text 8">
            <a:hlinkClick r:id="rId4" tooltip=""/>
          </p:cNvPr>
          <p:cNvSpPr txBox="1"/>
          <p:nvPr/>
        </p:nvSpPr>
        <p:spPr>
          <a:xfrm>
            <a:off x="3383280" y="37033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u="sng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https://sukesuke1024-lgtm.github.io/Trading-overseas/portal-v1/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6217920" y="1371600"/>
            <a:ext cx="2468880" cy="3291840"/>
          </a:xfrm>
          <a:prstGeom prst="roundRect">
            <a:avLst>
              <a:gd name="adj" fmla="val 2963"/>
            </a:avLst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355080" y="1463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ログインの流れ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355080" y="1783080"/>
            <a:ext cx="21945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社員IDを入力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PINを入力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認証コード（認証アプリの6桁）を入力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初回は、お渡しした共通の初期PINでログインし、その場で自分だけのPINに変更します。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スマホは「ホーム画面に追加」でアプリ化できます。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ログインとPINの管理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IDとPINは別の画面。初回は共通PIN→自分で変更。忘れたら「ログインできない」から再設定。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H-LINK 社内ポータル 操作・運用ガイド　3</a:t>
            </a:r>
            <a:endParaRPr lang="en-US" sz="900" dirty="0"/>
          </a:p>
        </p:txBody>
      </p:sp>
      <p:pic>
        <p:nvPicPr>
          <p:cNvPr id="5" name="login" descr="/tmp/claude-0/-home-user-Trading-overseas/37f567e1-186b-5154-a8b5-8a94d4e73e49/scratchpad/shots/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3566160" cy="223113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pic>
      <p:pic>
        <p:nvPicPr>
          <p:cNvPr id="6" name="forgot" descr="/tmp/claude-0/-home-user-Trading-overseas/37f567e1-186b-5154-a8b5-8a94d4e73e49/scratchpad/shots/forg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280160"/>
            <a:ext cx="3566160" cy="223113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457200" y="3657600"/>
            <a:ext cx="310896" cy="310896"/>
          </a:xfrm>
          <a:prstGeom prst="ellipse">
            <a:avLst/>
          </a:prstGeom>
          <a:solidFill>
            <a:srgbClr val="D6001C"/>
          </a:solidFill>
          <a:ln w="12700">
            <a:solidFill>
              <a:srgbClr val="D6001C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57200" y="3657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896112" y="3621024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初回：共通の初期PINでログイン → 本人が自分のPINへ変更（変更しないと先へ進めません）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57200" y="4023360"/>
            <a:ext cx="310896" cy="310896"/>
          </a:xfrm>
          <a:prstGeom prst="ellipse">
            <a:avLst/>
          </a:prstGeom>
          <a:solidFill>
            <a:srgbClr val="D6001C"/>
          </a:solidFill>
          <a:ln w="12700">
            <a:solidFill>
              <a:srgbClr val="D6001C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57200" y="4023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896112" y="3986784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以後：PINは本人だけが管理（管理者にも分かりません）。右上の設定から変更可能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57200" y="4389120"/>
            <a:ext cx="310896" cy="310896"/>
          </a:xfrm>
          <a:prstGeom prst="ellipse">
            <a:avLst/>
          </a:prstGeom>
          <a:solidFill>
            <a:srgbClr val="D6001C"/>
          </a:solidFill>
          <a:ln w="12700">
            <a:solidFill>
              <a:srgbClr val="D6001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57200" y="4389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896112" y="4352544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忘れたら：「ログインできない・PINをお忘れの方」→ 管理者が本人確認のうえ再設定URL（15分・1回限り）を再発行 → 本人が新しいPINを登録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ホーム画面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打刻・勤怠・お知らせ・ToDo・スケジュールが1画面に。右上の歯車で表示するカードや並びを変更できます。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H-LINK 社内ポータル 操作・運用ガイド　4</a:t>
            </a:r>
            <a:endParaRPr lang="en-US" sz="900" dirty="0"/>
          </a:p>
        </p:txBody>
      </p:sp>
      <p:pic>
        <p:nvPicPr>
          <p:cNvPr id="5" name="home" descr="/tmp/claude-0/-home-user-Trading-overseas/37f567e1-186b-5154-a8b5-8a94d4e73e49/scratchpad/shots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120640" cy="32004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760720" y="128016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97880" y="1371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打刻・今月の勤怠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897880" y="16916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出勤・退勤をワンタップ。残業時間（36協定）も自動集計。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760720" y="237744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97880" y="2468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ToDo・スケジュール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897880" y="2788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承認依頼と、今日から1週間の予定を大きな枠で表示。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760720" y="347472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897880" y="3566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▸ で折りたたみ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897880" y="3886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各カードの右上の ▾／▸ で開閉。補足説明も折りたためます。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勤怠の入力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数字だけで入力でき、保存ボタンで確定します。給与計算（Excel）に自動で連携します。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H-LINK 社内ポータル 操作・運用ガイド　5</a:t>
            </a:r>
            <a:endParaRPr lang="en-US" sz="900" dirty="0"/>
          </a:p>
        </p:txBody>
      </p:sp>
      <p:pic>
        <p:nvPicPr>
          <p:cNvPr id="5" name="attendance" descr="/tmp/claude-0/-home-user-Trading-overseas/37f567e1-186b-5154-a8b5-8a94d4e73e49/scratchpad/shots/attend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120640" cy="32004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760720" y="1371600"/>
            <a:ext cx="310896" cy="310896"/>
          </a:xfrm>
          <a:prstGeom prst="ellipse">
            <a:avLst/>
          </a:prstGeom>
          <a:solidFill>
            <a:srgbClr val="D6001C"/>
          </a:solidFill>
          <a:ln w="12700">
            <a:solidFill>
              <a:srgbClr val="D6001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76072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199632" y="1335024"/>
            <a:ext cx="24688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時刻は数字だけ：830 → 8:30、1745 → 17:45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760720" y="2148840"/>
            <a:ext cx="310896" cy="310896"/>
          </a:xfrm>
          <a:prstGeom prst="ellipse">
            <a:avLst/>
          </a:prstGeom>
          <a:solidFill>
            <a:srgbClr val="D6001C"/>
          </a:solidFill>
          <a:ln w="12700">
            <a:solidFill>
              <a:srgbClr val="D6001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760720" y="2148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199632" y="2112264"/>
            <a:ext cx="24688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行ごとの「保存」、またはまとめて「すべて保存」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760720" y="2926080"/>
            <a:ext cx="310896" cy="310896"/>
          </a:xfrm>
          <a:prstGeom prst="ellipse">
            <a:avLst/>
          </a:prstGeom>
          <a:solidFill>
            <a:srgbClr val="D6001C"/>
          </a:solidFill>
          <a:ln w="12700">
            <a:solidFill>
              <a:srgbClr val="D6001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760720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199632" y="2889504"/>
            <a:ext cx="24688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未保存のまま月や社員を切り替えると確認が出ます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760720" y="3703320"/>
            <a:ext cx="310896" cy="310896"/>
          </a:xfrm>
          <a:prstGeom prst="ellipse">
            <a:avLst/>
          </a:prstGeom>
          <a:solidFill>
            <a:srgbClr val="D6001C"/>
          </a:solidFill>
          <a:ln w="12700">
            <a:solidFill>
              <a:srgbClr val="D6001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760720" y="3703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199632" y="3666744"/>
            <a:ext cx="24688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管理者・役員は Excel連携で賃金計算ブック⑤へ反映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業務カレンダー：全員の予定と会議室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全社行事＋全員のスケジュール＋会議室の予約状況。部署・個人で絞り込めます。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H-LINK 社内ポータル 操作・運用ガイド　6</a:t>
            </a:r>
            <a:endParaRPr lang="en-US" sz="900" dirty="0"/>
          </a:p>
        </p:txBody>
      </p:sp>
      <p:pic>
        <p:nvPicPr>
          <p:cNvPr id="5" name="cal_month" descr="/tmp/claude-0/-home-user-Trading-overseas/37f567e1-186b-5154-a8b5-8a94d4e73e49/scratchpad/shots/cal_mon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4023360" cy="25146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pic>
      <p:pic>
        <p:nvPicPr>
          <p:cNvPr id="6" name="cal_day" descr="/tmp/claude-0/-home-user-Trading-overseas/37f567e1-186b-5154-a8b5-8a94d4e73e49/scratchpad/shots/cal_d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280160"/>
            <a:ext cx="4023360" cy="25146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457200" y="388620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94360" y="3977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時刻順・終日は下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94360" y="4297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同じ日は開始時刻の順に上から。終日は一番下。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46120" y="388620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3280" y="3977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備考は確認してから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3383280" y="4297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「備考を確認する」を押したときだけ表示。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35040" y="388620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172200" y="3977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会議室の予約状況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172200" y="4297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日表示の右側で、空き／予約済を確認。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予定・会議の登録と🔒鍵（閲覧権限）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商談や会議では参加者を選び、他の人の予定も押さえられます。見られたくない予定は鍵で非公開に。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H-LINK 社内ポータル 操作・運用ガイド　7</a:t>
            </a:r>
            <a:endParaRPr lang="en-US" sz="900" dirty="0"/>
          </a:p>
        </p:txBody>
      </p:sp>
      <p:pic>
        <p:nvPicPr>
          <p:cNvPr id="5" name="cal_form" descr="/tmp/claude-0/-home-user-Trading-overseas/37f567e1-186b-5154-a8b5-8a94d4e73e49/scratchpad/shots/cal_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4480560" cy="2798064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280160"/>
          <a:ext cx="35661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651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公開範囲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見られる人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5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全社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5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全員が内容を確認できる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5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自事業部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5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同じ事業部の人と役員。ほかは「予定あり」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5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🔒 鍵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5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本人と招待した参加者のみ。管理者・役員にも「予定あり」の時間帯だけ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120640" y="3200400"/>
            <a:ext cx="310896" cy="310896"/>
          </a:xfrm>
          <a:prstGeom prst="ellipse">
            <a:avLst/>
          </a:prstGeom>
          <a:solidFill>
            <a:srgbClr val="D6001C"/>
          </a:solidFill>
          <a:ln w="12700">
            <a:solidFill>
              <a:srgbClr val="D6001C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120640" y="3200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5559552" y="3163824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参加者を選ぶ：その人の予定にも入り、すでに予定がある人は警告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120640" y="3657600"/>
            <a:ext cx="310896" cy="310896"/>
          </a:xfrm>
          <a:prstGeom prst="ellipse">
            <a:avLst/>
          </a:prstGeom>
          <a:solidFill>
            <a:srgbClr val="D6001C"/>
          </a:solidFill>
          <a:ln w="12700">
            <a:solidFill>
              <a:srgbClr val="D6001C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120640" y="3657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559552" y="3621024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会議室を選ぶ：時間が重なる二重予約は保存できません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120640" y="4114800"/>
            <a:ext cx="310896" cy="310896"/>
          </a:xfrm>
          <a:prstGeom prst="ellipse">
            <a:avLst/>
          </a:prstGeom>
          <a:solidFill>
            <a:srgbClr val="D6001C"/>
          </a:solidFill>
          <a:ln w="12700">
            <a:solidFill>
              <a:srgbClr val="D6001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120640" y="4114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5559552" y="4078224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管理者は会議室を追加・削除できます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42062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商談・会議・来客・外出など、種類も選べます。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与信判断・備品／名刺の注文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有料の外部サービスはURLのご案内まで。注文は依頼→承認→発注→納品で管理します。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H-LINK 社内ポータル 操作・運用ガイド　8</a:t>
            </a:r>
            <a:endParaRPr lang="en-US" sz="900" dirty="0"/>
          </a:p>
        </p:txBody>
      </p:sp>
      <p:pic>
        <p:nvPicPr>
          <p:cNvPr id="5" name="clients" descr="/tmp/claude-0/-home-user-Trading-overseas/37f567e1-186b-5154-a8b5-8a94d4e73e49/scratchpad/shots/cli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4023360" cy="25146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pic>
      <p:pic>
        <p:nvPicPr>
          <p:cNvPr id="6" name="orders" descr="/tmp/claude-0/-home-user-Trading-overseas/37f567e1-186b-5154-a8b5-8a94d4e73e49/scratchpad/shots/ord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280160"/>
            <a:ext cx="4023360" cy="25146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457200" y="388620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94360" y="3977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与信：外部サイトはURLまで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94360" y="4297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帝国データバンク・G-Search・法務局は有料のためURLまで。決算書は直近3期分を添付。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663440" y="388620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800600" y="3977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注文：依頼→承認→発注→納品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800600" y="4297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モノタロウ・トータル企画・Amazon・アスクル他。事業部ごとに閲覧、CSV出力。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ID・PIN・URL管理台帳（管理者）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社員IDの発行状況、PINの設定状況、再設定URLの発行履歴を一覧で管理します。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H-LINK 社内ポータル 操作・運用ガイド　9</a:t>
            </a:r>
            <a:endParaRPr lang="en-US" sz="900" dirty="0"/>
          </a:p>
        </p:txBody>
      </p:sp>
      <p:pic>
        <p:nvPicPr>
          <p:cNvPr id="5" name="accounts" descr="/tmp/claude-0/-home-user-Trading-overseas/37f567e1-186b-5154-a8b5-8a94d4e73e49/scratchpad/shots/accou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120640" cy="32004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760720" y="1325880"/>
            <a:ext cx="310896" cy="310896"/>
          </a:xfrm>
          <a:prstGeom prst="ellipse">
            <a:avLst/>
          </a:prstGeom>
          <a:solidFill>
            <a:srgbClr val="D6001C"/>
          </a:solidFill>
          <a:ln w="12700">
            <a:solidFill>
              <a:srgbClr val="D6001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760720" y="1325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199632" y="1289304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PINの状態（初期PIN／本人設定済）、最終変更・最終ログインを確認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760720" y="1984248"/>
            <a:ext cx="310896" cy="310896"/>
          </a:xfrm>
          <a:prstGeom prst="ellipse">
            <a:avLst/>
          </a:prstGeom>
          <a:solidFill>
            <a:srgbClr val="D6001C"/>
          </a:solidFill>
          <a:ln w="12700">
            <a:solidFill>
              <a:srgbClr val="D6001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760720" y="1984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199632" y="1947672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「再設定URLを発行」→ 本人確認のうえ本人だけに伝える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760720" y="2642616"/>
            <a:ext cx="310896" cy="310896"/>
          </a:xfrm>
          <a:prstGeom prst="ellipse">
            <a:avLst/>
          </a:prstGeom>
          <a:solidFill>
            <a:srgbClr val="D6001C"/>
          </a:solidFill>
          <a:ln w="12700">
            <a:solidFill>
              <a:srgbClr val="D6001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760720" y="2642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199632" y="260604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「初期PINへ」→ 共通PINに戻し、次回ログインで変更を必須に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760720" y="3300984"/>
            <a:ext cx="310896" cy="310896"/>
          </a:xfrm>
          <a:prstGeom prst="ellipse">
            <a:avLst/>
          </a:prstGeom>
          <a:solidFill>
            <a:srgbClr val="D6001C"/>
          </a:solidFill>
          <a:ln w="12700">
            <a:solidFill>
              <a:srgbClr val="D6001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760720" y="3300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199632" y="3264408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発行はすべて履歴に記録。CSV出力も可能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760720" y="3959352"/>
            <a:ext cx="310896" cy="310896"/>
          </a:xfrm>
          <a:prstGeom prst="ellipse">
            <a:avLst/>
          </a:prstGeom>
          <a:solidFill>
            <a:srgbClr val="D6001C"/>
          </a:solidFill>
          <a:ln w="12700">
            <a:solidFill>
              <a:srgbClr val="D6001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760720" y="3959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199632" y="3922776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PINそのものは誰にも見えません（ハッシュ化）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使いやすさの機能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目を守る設定、ページ送り、折りたたみ。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H-LINK 社内ポータル 操作・運用ガイド　10</a:t>
            </a:r>
            <a:endParaRPr lang="en-US" sz="900" dirty="0"/>
          </a:p>
        </p:txBody>
      </p:sp>
      <p:pic>
        <p:nvPicPr>
          <p:cNvPr id="5" name="night" descr="/tmp/claude-0/-home-user-Trading-overseas/37f567e1-186b-5154-a8b5-8a94d4e73e49/scratchpad/shots/n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4572000" cy="28346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212080" y="128016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49240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ナイトモード・ブルーライトカット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349240" y="1691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歯車から選択。ロゴも黒背景用に自動で切り替わります。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212080" y="228600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34924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ページ送り（1 2 3 … 10）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349240" y="2697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一覧は10件ずつ。データが増えても次のページへ。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212080" y="329184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349240" y="3383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数字のカンマ・ドラッグ＆ドロップ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349240" y="3703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金額は3桁区切り。添付は点線の枠に落とすだけ。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権限の違い（管理者／役員／従業員）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同じ画面でも、見える範囲と操作できる範囲が権限で異なります（サーバー側でも強制）。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H-LINK 社内ポータル 操作・運用ガイド　11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194560"/>
                <a:gridCol w="1920240"/>
                <a:gridCol w="23774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機能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従業員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役員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管理者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5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勤怠・日報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5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自分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5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全員を閲覧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5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全員を閲覧・Excel連携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5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カレンダー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5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全員の予定を確認・自分の予定を登録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5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＋全社行事の登録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5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＋会議室の管理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5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与信・反社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5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自事業部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5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全て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5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マスタ・外部リンクの管理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5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備品注文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5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依頼・自事業部を閲覧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5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全て閲覧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5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承認・発注・納品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5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ID・PIN管理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5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5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5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台帳・再設定URL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5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決算書・仕訳・監査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5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5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閲覧（PIN再入力）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15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閲覧・出力（PIN再入力）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公開と更新の運用（外部からの更新）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コードは GitHub で管理。更新すると自動でWeb公開に反映されます。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H-LINK 社内ポータル 操作・運用ガイド　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デモ公開（現在のURL）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737360"/>
            <a:ext cx="2377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 Pages に自動公開。更新のたびに自動でビルド・テスト・公開。データは各ブラウザ内にのみ保存されるため、本番の社員データには使えません。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32588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00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本番（サーバー版）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737360"/>
            <a:ext cx="2377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自社サーバー／クラウドで常時稼働。データはサーバーに集約され、複数人・複数端末で共有。Docker で起動：docker build → docker run（ボリューム /data にデータ保存）。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32588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72200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更新・強化の手順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1737360"/>
            <a:ext cx="2377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 に変更 → Pull Request → 自動テスト（CI）→ マージ → 自動公開。社外からでもブラウザで実施可能。サーバー版は再デプロイで反映。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886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本番利用の主な設定（環境変数）：PORTAL_INITIAL_PIN（共通の初期PIN）／PORTAL_DATA_DIR（保存先）／PORTAL_SESSION_SECRET／PORTAL_MAIL_WEBHOOK（PIN再設定メール）／PORTAL_SECURITY_MODE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セキュリティ対策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不正なアクセスを防ぎ、検知し、記録します。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H-LINK 社内ポータル 操作・運用ガイド　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6916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ID→PIN→認証コードの3段階。失敗が続くとロック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28016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端末・ネットワーク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6916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登録した端末だけ許可。許可ネットワーク（社内LAN・VPN）の制限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28016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7220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役員・部長限定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16916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決算書・給与明細などはPINの再入力（ステップアップ）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834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退職者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3154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退職日で即ログイン不可。端末も無効化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46120" y="274320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83280" y="2834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アラート検知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3154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不審なログイン・権限のない操作を検知し通知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274320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72200" y="2834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改ざん防止の記録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3154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承認・変更・ログイン履歴を、いつ・誰がで記録（連鎖ハッシュ）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00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できないこと：USBメモリ等の接続を、ブラウザから検知・遮断することはできません（固定資産台帳での持ち出し管理と運用ルールで補います）。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ご留意事項・お問い合わせ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5669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6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現在のURLはデモ公開です。実際の社員データを扱う場合は、サーバー版（Docker等）で運用してください。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6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PIN再設定メールの送信には、メール送信の設定（PORTAL_MAIL_WEBHOOK）が必要です。未設定の間は管理者が再設定URLを発行します。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6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帝国データバンク・G-Search・登記情報提供サービス等は有料です。契約と課金はお客様側でご用意ください（本システムはURLのご案内まで）。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6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給与・マイナンバー等の実データは、Excelをブラウザ内でのみ処理し、サーバーへ送信しません。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6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ご不明点は、管理者（人事・情シス）へお問い合わせください。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92240" y="1280160"/>
            <a:ext cx="2194560" cy="26517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/tmp/claude-0/-home-user-Trading-overseas/37f567e1-186b-5154-a8b5-8a94d4e73e49/scratchpad/qr_por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417320"/>
            <a:ext cx="1828800" cy="1828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92240" y="3337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5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最新版のURL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H-LINK 社内ポータル 操作・運用ガイド</dc:title>
  <dc:subject>PptxGenJS Presentation</dc:subject>
  <dc:creator>H-LINK</dc:creator>
  <cp:lastModifiedBy>H-LINK</cp:lastModifiedBy>
  <cp:revision>1</cp:revision>
  <dcterms:created xsi:type="dcterms:W3CDTF">2026-10-02T00:25:54Z</dcterms:created>
  <dcterms:modified xsi:type="dcterms:W3CDTF">2026-10-02T00:25:54Z</dcterms:modified>
</cp:coreProperties>
</file>